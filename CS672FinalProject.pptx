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8229600" cy="14630400"/>
  <p:embeddedFontLst>
    <p:embeddedFont>
      <p:font typeface="Alexandria Medium" pitchFamily="2" charset="-78"/>
      <p:regular r:id="rId15"/>
    </p:embeddedFont>
    <p:embeddedFont>
      <p:font typeface="Manrope" pitchFamily="2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47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208" y="1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1464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4.png"/><Relationship Id="rId4" Type="http://schemas.openxmlformats.org/officeDocument/2006/relationships/hyperlink" Target="https://github.com/harsha-gizmo/vlm-agent-hallucination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5647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2860119" y="2846189"/>
            <a:ext cx="891004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When Agents Lie to Each Other</a:t>
            </a:r>
            <a:endParaRPr lang="en-US" sz="4450" b="1" dirty="0"/>
          </a:p>
        </p:txBody>
      </p:sp>
      <p:sp>
        <p:nvSpPr>
          <p:cNvPr id="4" name="Text 2"/>
          <p:cNvSpPr/>
          <p:nvPr/>
        </p:nvSpPr>
        <p:spPr>
          <a:xfrm>
            <a:off x="1451610" y="3645694"/>
            <a:ext cx="117270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Confidence Bias Propagation in Hierarchical Vision-Language Multi-Agent Systems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93790" y="4396859"/>
            <a:ext cx="13042821" cy="16907"/>
          </a:xfrm>
          <a:prstGeom prst="rect">
            <a:avLst/>
          </a:prstGeom>
          <a:solidFill>
            <a:srgbClr val="5B6E8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3790" y="4725591"/>
            <a:ext cx="130428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Santhosh Janakiraman(sj1230) &amp; Harsha Rajendra(hr458)</a:t>
            </a:r>
            <a:br>
              <a:rPr lang="en-US" sz="17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</a:br>
            <a:br>
              <a:rPr lang="en-US" sz="17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</a:b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CS672 : Frontiers in Foundation Models </a:t>
            </a:r>
            <a:endParaRPr lang="en-US" sz="1750" dirty="0"/>
          </a:p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Prof. Chengzhi Mao | Rutgers University | Spring 2026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8097"/>
            <a:ext cx="1304282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93790" y="1462088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Motivation</a:t>
            </a:r>
            <a:endParaRPr lang="en-US" sz="4000" b="1" dirty="0"/>
          </a:p>
        </p:txBody>
      </p:sp>
      <p:sp>
        <p:nvSpPr>
          <p:cNvPr id="4" name="Text 2"/>
          <p:cNvSpPr/>
          <p:nvPr/>
        </p:nvSpPr>
        <p:spPr>
          <a:xfrm>
            <a:off x="793790" y="2173486"/>
            <a:ext cx="9709666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Multi-Agent VLMs Are Deployed. What Happens When One Agent Is Wrong?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6867" y="2767846"/>
            <a:ext cx="7243286" cy="4658797"/>
          </a:xfrm>
          <a:prstGeom prst="roundRect">
            <a:avLst>
              <a:gd name="adj" fmla="val 10517"/>
            </a:avLst>
          </a:prstGeom>
          <a:solidFill>
            <a:srgbClr val="D4CC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0940" y="3243263"/>
            <a:ext cx="6835140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Modern agentic AI systems assign specialized agents to observe parts of a scene and report to a root orchestrator agent. Each report carries a confidence score. The root agent decides based purely on what it reads.</a:t>
            </a:r>
          </a:p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0940" y="4517171"/>
            <a:ext cx="6835140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Manrope" pitchFamily="34" charset="0"/>
                <a:ea typeface="Manrope" pitchFamily="34" charset="-122"/>
                <a:cs typeface="Manrope" pitchFamily="34" charset="-120"/>
              </a:rPr>
              <a:t>The question we test:</a:t>
            </a:r>
            <a:r>
              <a:rPr lang="en-US" sz="16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when one subagent has corrupted visual information and reports it at high confidence, does the root agent detect the lie or trust it?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50940" y="5476875"/>
            <a:ext cx="6835140" cy="1432798"/>
          </a:xfrm>
          <a:prstGeom prst="roundRect">
            <a:avLst>
              <a:gd name="adj" fmla="val 21372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013" y="5781913"/>
            <a:ext cx="255151" cy="20407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14237" y="5711547"/>
            <a:ext cx="5967770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00FFFF"/>
                </a:highlight>
                <a:latin typeface="Manrope" pitchFamily="34" charset="0"/>
                <a:ea typeface="Manrope" pitchFamily="34" charset="-122"/>
                <a:cs typeface="Manrope" pitchFamily="34" charset="-120"/>
              </a:rPr>
              <a:t>Why it matters:</a:t>
            </a:r>
            <a:r>
              <a:rPr lang="en-US" sz="16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autonomous vehicles, robotic navigation, and agentic AI workflows all use this architecture. A confident wrong sensor could cause fatal decisions downstream.</a:t>
            </a:r>
            <a:endParaRPr lang="en-US" sz="16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8566" y="2974538"/>
            <a:ext cx="5035748" cy="31493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53303" y="4397822"/>
            <a:ext cx="1038199" cy="347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SE Subagent: Report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10527107" y="5729280"/>
            <a:ext cx="1038200" cy="347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SW Subagent: Report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2401201" y="4397145"/>
            <a:ext cx="1038200" cy="347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NE Subagent: Observe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10527107" y="3021031"/>
            <a:ext cx="1038200" cy="347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NW Subagent: Observe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8248769" y="6330553"/>
            <a:ext cx="5595342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Each subagent reports landmarks, roads, and a confidence score from </a:t>
            </a:r>
            <a:r>
              <a:rPr lang="en-US" sz="16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</a:t>
            </a:r>
            <a:r>
              <a:rPr lang="en-US" sz="16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to </a:t>
            </a:r>
            <a:r>
              <a:rPr lang="en-US" sz="16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100</a:t>
            </a:r>
            <a:r>
              <a:rPr lang="en-US" sz="16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The root agent never sees the raw scene directly.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8304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93790" y="1008578"/>
            <a:ext cx="9449991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400" b="1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Experimental Setup : A Controlled Synthetic Environment to Isolate Visual Reasoning</a:t>
            </a:r>
            <a:endParaRPr lang="en-US" sz="2400" b="1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286" y="1551146"/>
            <a:ext cx="4120634" cy="41206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5764768"/>
            <a:ext cx="634162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Figure 1:</a:t>
            </a: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 Level 1 synthetic city map with ground truth path (</a:t>
            </a:r>
            <a:r>
              <a:rPr lang="en-US" sz="11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green</a:t>
            </a: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)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7502604" y="1514832"/>
            <a:ext cx="634162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8784" y="1831896"/>
            <a:ext cx="2709267" cy="27092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02604" y="4634151"/>
            <a:ext cx="6341626" cy="583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Figure 2: </a:t>
            </a: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NW quadrant with sabotaged road (</a:t>
            </a:r>
            <a:r>
              <a:rPr lang="en-US" sz="11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black rectangle</a:t>
            </a: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)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 generated </a:t>
            </a:r>
            <a:r>
              <a:rPr lang="en-US" sz="11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180 fake city maps</a:t>
            </a: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that do not exist on the internet. 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7502604" y="5303996"/>
            <a:ext cx="6341626" cy="778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Complexity levels:</a:t>
            </a: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B6E8C"/>
                </a:solidFill>
                <a:highlight>
                  <a:srgbClr val="FFFF00"/>
                </a:highlight>
                <a:latin typeface="Manrope" pitchFamily="34" charset="0"/>
                <a:ea typeface="Manrope" pitchFamily="34" charset="-122"/>
                <a:cs typeface="Manrope" pitchFamily="34" charset="-120"/>
              </a:rPr>
              <a:t>L1</a:t>
            </a: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: clean grid 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B6E8C"/>
                </a:solidFill>
                <a:highlight>
                  <a:srgbClr val="FFFF00"/>
                </a:highlight>
                <a:latin typeface="Manrope" pitchFamily="34" charset="0"/>
                <a:ea typeface="Manrope" pitchFamily="34" charset="-122"/>
                <a:cs typeface="Manrope" pitchFamily="34" charset="-120"/>
              </a:rPr>
              <a:t>L2</a:t>
            </a: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:grid plus diagonals |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B6E8C"/>
                </a:solidFill>
                <a:highlight>
                  <a:srgbClr val="FFFF00"/>
                </a:highlight>
                <a:latin typeface="Manrope" pitchFamily="34" charset="0"/>
                <a:ea typeface="Manrope" pitchFamily="34" charset="-122"/>
                <a:cs typeface="Manrope" pitchFamily="34" charset="-120"/>
              </a:rPr>
              <a:t>L3</a:t>
            </a: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: irregular network with dead ends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793790" y="6276142"/>
            <a:ext cx="294799" cy="184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01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6511290"/>
            <a:ext cx="3188851" cy="152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93790" y="6615470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Quadrant Split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793790" y="6903244"/>
            <a:ext cx="3188851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Each city divided into NW, NE, SW, SE quadrants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4078367" y="6276142"/>
            <a:ext cx="294799" cy="184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02</a:t>
            </a:r>
            <a:endParaRPr lang="en-US" sz="11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8367" y="6511290"/>
            <a:ext cx="3188970" cy="152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078367" y="6615470"/>
            <a:ext cx="1875234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Subagent Reporting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4078367" y="6903244"/>
            <a:ext cx="3188970" cy="583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 Qwen2-VL-7B subagents each see one quadrant and return landmarks, roads, and confidence </a:t>
            </a:r>
            <a:r>
              <a:rPr lang="en-US" sz="11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 to 100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7363063" y="6276142"/>
            <a:ext cx="294799" cy="184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03</a:t>
            </a:r>
            <a:endParaRPr lang="en-US" sz="11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3063" y="6526054"/>
            <a:ext cx="3188851" cy="152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363063" y="6615470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Root Synthesis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7363063" y="6903244"/>
            <a:ext cx="3188851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Claude Sonnet 3.5 synthesizes all 4 reports and recommends the shortest path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10647640" y="6276142"/>
            <a:ext cx="294799" cy="184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04</a:t>
            </a:r>
            <a:endParaRPr lang="en-US" sz="115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47640" y="6526054"/>
            <a:ext cx="3188970" cy="1524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0647640" y="6615470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Ground Truth</a:t>
            </a:r>
            <a:endParaRPr lang="en-US" sz="1450" dirty="0"/>
          </a:p>
        </p:txBody>
      </p:sp>
      <p:sp>
        <p:nvSpPr>
          <p:cNvPr id="25" name="Text 17"/>
          <p:cNvSpPr/>
          <p:nvPr/>
        </p:nvSpPr>
        <p:spPr>
          <a:xfrm>
            <a:off x="10647640" y="6903244"/>
            <a:ext cx="3188970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Dijkstra</a:t>
            </a: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shortest path computed at city generation time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6539270" cy="191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ea typeface="Alexandria Medium" pitchFamily="34" charset="-122"/>
                <a:cs typeface="Calibri" panose="020F0502020204030204" pitchFamily="34" charset="0"/>
              </a:rPr>
              <a:t>Experimental </a:t>
            </a:r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Architecture</a:t>
            </a: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4056" y="759262"/>
            <a:ext cx="9862287" cy="74703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7944"/>
            <a:ext cx="6137553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The 5 Experimental Conditions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238488"/>
            <a:ext cx="574309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Five Conditions to Isolate the Confidence Bias Mechanism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1653183"/>
            <a:ext cx="13042821" cy="952619"/>
          </a:xfrm>
          <a:prstGeom prst="roundRect">
            <a:avLst>
              <a:gd name="adj" fmla="val 25002"/>
            </a:avLst>
          </a:prstGeom>
          <a:solidFill>
            <a:srgbClr val="FFFFFF"/>
          </a:solidFill>
          <a:ln w="22860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16650" y="1676043"/>
            <a:ext cx="635079" cy="906899"/>
          </a:xfrm>
          <a:prstGeom prst="roundRect">
            <a:avLst>
              <a:gd name="adj" fmla="val 33183"/>
            </a:avLst>
          </a:prstGeom>
          <a:solidFill>
            <a:srgbClr val="E6F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11317" y="1980605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562814" y="1834753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Baseline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562814" y="2149435"/>
            <a:ext cx="1209222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Clean quadrants, natural confidence. Tests system performance without interference.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93790" y="2716887"/>
            <a:ext cx="13042821" cy="952619"/>
          </a:xfrm>
          <a:prstGeom prst="roundRect">
            <a:avLst>
              <a:gd name="adj" fmla="val 25002"/>
            </a:avLst>
          </a:prstGeom>
          <a:solidFill>
            <a:srgbClr val="FFFFFF"/>
          </a:solidFill>
          <a:ln w="22860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16650" y="2739747"/>
            <a:ext cx="635079" cy="906899"/>
          </a:xfrm>
          <a:prstGeom prst="roundRect">
            <a:avLst>
              <a:gd name="adj" fmla="val 33183"/>
            </a:avLst>
          </a:prstGeom>
          <a:solidFill>
            <a:srgbClr val="E6F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11317" y="3044309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1562814" y="2898457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Sabotage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562814" y="3213140"/>
            <a:ext cx="1209222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NW road erased, natural confidence. Tests whether visual corruption alone causes failure.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3790" y="3780592"/>
            <a:ext cx="13042821" cy="952619"/>
          </a:xfrm>
          <a:prstGeom prst="roundRect">
            <a:avLst>
              <a:gd name="adj" fmla="val 25002"/>
            </a:avLst>
          </a:prstGeom>
          <a:solidFill>
            <a:srgbClr val="FFFFFF"/>
          </a:solidFill>
          <a:ln w="22860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16650" y="3803452"/>
            <a:ext cx="635079" cy="906899"/>
          </a:xfrm>
          <a:prstGeom prst="roundRect">
            <a:avLst>
              <a:gd name="adj" fmla="val 33183"/>
            </a:avLst>
          </a:prstGeom>
          <a:solidFill>
            <a:srgbClr val="E6F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11317" y="4108013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1562814" y="3962162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Confident Liar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562814" y="4276844"/>
            <a:ext cx="1209222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Same corruption plus NW confidence forced to 99, others to 60. Tests whether high confidence amplifies failure.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3790" y="4844296"/>
            <a:ext cx="13042821" cy="952619"/>
          </a:xfrm>
          <a:prstGeom prst="roundRect">
            <a:avLst>
              <a:gd name="adj" fmla="val 25002"/>
            </a:avLst>
          </a:prstGeom>
          <a:solidFill>
            <a:srgbClr val="FFFFFF"/>
          </a:solidFill>
          <a:ln w="22860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16650" y="4867156"/>
            <a:ext cx="635079" cy="906899"/>
          </a:xfrm>
          <a:prstGeom prst="roundRect">
            <a:avLst>
              <a:gd name="adj" fmla="val 33183"/>
            </a:avLst>
          </a:prstGeom>
          <a:solidFill>
            <a:srgbClr val="E6F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11317" y="5171718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4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1562814" y="5025866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Gaslighting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562814" y="5340548"/>
            <a:ext cx="1209222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NW sees correct map but contradicts other agents. Tests whether confident contradiction overrides truth.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93790" y="5908000"/>
            <a:ext cx="13042821" cy="952619"/>
          </a:xfrm>
          <a:prstGeom prst="roundRect">
            <a:avLst>
              <a:gd name="adj" fmla="val 25002"/>
            </a:avLst>
          </a:prstGeom>
          <a:solidFill>
            <a:srgbClr val="FFFFFF"/>
          </a:solidFill>
          <a:ln w="22860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16650" y="5930860"/>
            <a:ext cx="635079" cy="906899"/>
          </a:xfrm>
          <a:prstGeom prst="roundRect">
            <a:avLst>
              <a:gd name="adj" fmla="val 33183"/>
            </a:avLst>
          </a:prstGeom>
          <a:solidFill>
            <a:srgbClr val="E6F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11317" y="6235422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5</a:t>
            </a:r>
            <a:endParaRPr lang="en-US" sz="1850" dirty="0"/>
          </a:p>
        </p:txBody>
      </p:sp>
      <p:sp>
        <p:nvSpPr>
          <p:cNvPr id="27" name="Text 25"/>
          <p:cNvSpPr/>
          <p:nvPr/>
        </p:nvSpPr>
        <p:spPr>
          <a:xfrm>
            <a:off x="1562814" y="6089571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Mitigation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562814" y="6404253"/>
            <a:ext cx="1209222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Confident liar setup plus root agent told to flag contradictions. Tests whether prompting reduces the bias.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93790" y="6985635"/>
            <a:ext cx="13042821" cy="546021"/>
          </a:xfrm>
          <a:prstGeom prst="roundRect">
            <a:avLst>
              <a:gd name="adj" fmla="val 43619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7212687"/>
            <a:ext cx="198358" cy="15871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309568" y="7136368"/>
            <a:ext cx="12368332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Arch A</a:t>
            </a: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= root agent receives text reports only | </a:t>
            </a:r>
            <a:r>
              <a:rPr lang="en-US" sz="125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Arch B</a:t>
            </a: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= root agent receives text reports plus all 4 raw quadrant images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668655"/>
            <a:ext cx="13141881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44260" y="930712"/>
            <a:ext cx="5532358" cy="431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Main Result: Error Rate and CBS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44260" y="1396127"/>
            <a:ext cx="5006578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Confident Lies Cause More Damage Than Honest Mistakes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4260" y="1814036"/>
            <a:ext cx="5054441" cy="35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CBS (Confidence Bias Score)</a:t>
            </a: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= mean NW confidence on wrong decisions minus mean NW confidence on correct decisions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44260" y="2264450"/>
            <a:ext cx="5054441" cy="2722959"/>
          </a:xfrm>
          <a:prstGeom prst="roundRect">
            <a:avLst>
              <a:gd name="adj" fmla="val 761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90111" y="2330172"/>
            <a:ext cx="2743438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Metric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917394" y="2330172"/>
            <a:ext cx="1735574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Value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0111" y="2631877"/>
            <a:ext cx="2743438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Baseline Arch A error rate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917394" y="2631877"/>
            <a:ext cx="1735574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0.80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0111" y="2933581"/>
            <a:ext cx="2743438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Confident Liar Arch A error rate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917394" y="2933581"/>
            <a:ext cx="1735574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0.92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90111" y="3235285"/>
            <a:ext cx="2743438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Relative increase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917394" y="3235285"/>
            <a:ext cx="1735574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D4CC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+15%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90111" y="3536990"/>
            <a:ext cx="2743438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Mitigation error rate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917394" y="3536990"/>
            <a:ext cx="1735574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0.84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90111" y="3838694"/>
            <a:ext cx="2743438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Mean confidence when wrong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917394" y="3838694"/>
            <a:ext cx="1735574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98.2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90111" y="4140398"/>
            <a:ext cx="2743438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Mean confidence when correct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917394" y="4140398"/>
            <a:ext cx="1735574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91.4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90111" y="4442103"/>
            <a:ext cx="2743438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CBS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917394" y="4442103"/>
            <a:ext cx="1735574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+6.75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90111" y="4743807"/>
            <a:ext cx="2743438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p-value (Mann-Whitney U)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917394" y="4743807"/>
            <a:ext cx="1735574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0.0045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44260" y="5082064"/>
            <a:ext cx="5054441" cy="809625"/>
          </a:xfrm>
          <a:prstGeom prst="roundRect">
            <a:avLst>
              <a:gd name="adj" fmla="val 25609"/>
            </a:avLst>
          </a:prstGeom>
          <a:solidFill>
            <a:srgbClr val="FFB3B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72" y="5271016"/>
            <a:ext cx="172760" cy="138112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193244" y="5200769"/>
            <a:ext cx="4467344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It is not just what the agent says.</a:t>
            </a:r>
            <a:endParaRPr lang="en-US" sz="1050" dirty="0"/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It is how confident it says it. </a:t>
            </a:r>
            <a:endParaRPr lang="en-US" sz="1050" dirty="0"/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Finding is robust across Jaccard thresholds 0.3 to 0.7.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143506" y="1814036"/>
            <a:ext cx="7750254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endParaRPr lang="en-US" sz="1050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2291" y="1082451"/>
            <a:ext cx="6106038" cy="263241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143506" y="4353044"/>
            <a:ext cx="7750254" cy="35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Figure 3</a:t>
            </a: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: Error rate across conditions for Architecture A and B</a:t>
            </a:r>
            <a:endParaRPr lang="en-US" sz="1050" dirty="0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6483" y="4771653"/>
            <a:ext cx="5037653" cy="2484953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143506" y="7383066"/>
            <a:ext cx="7750254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Figure 5</a:t>
            </a: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: Confidence Bias Score per condition</a:t>
            </a:r>
            <a:endParaRPr lang="en-US" sz="105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1E965775-6F38-E6EC-1BE9-811A48FD40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0142" y="6657162"/>
            <a:ext cx="5374504" cy="5549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87266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93790" y="1277541"/>
            <a:ext cx="4669274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Architecture Comparison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93790" y="1776532"/>
            <a:ext cx="6496645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More Visual Information Does Not Help. It Creates a New Failure Mode.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93790" y="2236827"/>
            <a:ext cx="4465201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Arch A (text only) error rates are consistently lower than Arch B (text plus images) across all 5 conditions.</a:t>
            </a:r>
            <a:endParaRPr lang="en-US" sz="11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733675"/>
            <a:ext cx="2902268" cy="16724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3790" y="4513898"/>
            <a:ext cx="446520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93790" y="4794647"/>
            <a:ext cx="4465201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Figure 6</a:t>
            </a: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: Error rate heatmap across all conditions and architecture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626179" y="2236827"/>
            <a:ext cx="8217932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1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6605" y="2539127"/>
            <a:ext cx="5216962" cy="211359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26179" y="4760476"/>
            <a:ext cx="8217932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626179" y="5041225"/>
            <a:ext cx="8217932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Figure 7:</a:t>
            </a:r>
            <a:r>
              <a:rPr lang="en-US" sz="115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Jaccard score breakdown by condition and architecture</a:t>
            </a:r>
            <a:endParaRPr lang="en-US" sz="11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429726"/>
            <a:ext cx="4347567" cy="58971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41189" y="6115169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Conflicting Signals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941189" y="6402943"/>
            <a:ext cx="4052768" cy="583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Root agent receives 4 text reports AND 4 raw quadrant images simultaneously. When text reports and visual evidence conflict, root agent defers to confident text.</a:t>
            </a:r>
            <a:endParaRPr lang="en-US" sz="11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1357" y="5429726"/>
            <a:ext cx="4347567" cy="58971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88756" y="6115169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Jaccard Paradox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5288756" y="6402943"/>
            <a:ext cx="4052768" cy="778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Arch B has higher strict Jaccard (better intersection sequences) but lower loose Jaccard (worse landmark naming). Adding images splits model attention between roads and landmarks.</a:t>
            </a:r>
            <a:endParaRPr lang="en-US" sz="11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8924" y="5429726"/>
            <a:ext cx="4347567" cy="589717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636323" y="6115169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Novel Failure Mode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9636323" y="6402943"/>
            <a:ext cx="4052768" cy="583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multimodal fusion failure not previously documented. Confident text overrides correct visual evidence even when images are present.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848320"/>
            <a:ext cx="13092351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9025" y="1124426"/>
            <a:ext cx="10218658" cy="446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From Single-Model Hallucination to Multi-Agent Cascade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9025" y="1606629"/>
            <a:ext cx="1785342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9025" y="2065853"/>
            <a:ext cx="7043976" cy="2654141"/>
          </a:xfrm>
          <a:prstGeom prst="roundRect">
            <a:avLst>
              <a:gd name="adj" fmla="val 807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9639" y="2135029"/>
            <a:ext cx="1819275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Dimension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32046" y="2135029"/>
            <a:ext cx="2166818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 Paper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91996" y="2135029"/>
            <a:ext cx="2170628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Our 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9639" y="2451973"/>
            <a:ext cx="1819275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Problem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32046" y="2451973"/>
            <a:ext cx="2166818" cy="372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Static encoders miss fine-grained visual details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91996" y="2451973"/>
            <a:ext cx="2170628" cy="372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Vision encoder detects anomaly but output ignores 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9639" y="2955131"/>
            <a:ext cx="1819275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Mechanism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32046" y="2955131"/>
            <a:ext cx="2166818" cy="372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Language instructions guide encoder attention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91996" y="2955131"/>
            <a:ext cx="2170628" cy="372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Confident wrong language overrides visual evidence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9639" y="3458289"/>
            <a:ext cx="1819275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Scope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32046" y="3458289"/>
            <a:ext cx="2166818" cy="372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Single model perception-language disconnect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91996" y="3458289"/>
            <a:ext cx="2170628" cy="372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Multi-agent communication layer failure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9639" y="3961448"/>
            <a:ext cx="1819275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Metric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32046" y="3961448"/>
            <a:ext cx="2166818" cy="372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Hallucination rate on MMVP benchmark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91996" y="3961448"/>
            <a:ext cx="2170628" cy="372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CBS: cross-agent confidence propagation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9639" y="4464606"/>
            <a:ext cx="1819275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32046" y="4464606"/>
            <a:ext cx="2166818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Single VLM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91996" y="4464606"/>
            <a:ext cx="2170628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Hierarchical multi-agent system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9025" y="4821079"/>
            <a:ext cx="7043976" cy="650081"/>
          </a:xfrm>
          <a:prstGeom prst="roundRect">
            <a:avLst>
              <a:gd name="adj" fmla="val 32957"/>
            </a:avLst>
          </a:prstGeom>
          <a:solidFill>
            <a:srgbClr val="B3E7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781" y="5019199"/>
            <a:ext cx="178475" cy="142756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233011" y="4946571"/>
            <a:ext cx="6437233" cy="372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</a:t>
            </a: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shows language can control what one model sees. We show that in a multi-agent hierarchy, confident language from a corrupted agent overrides what the vision encoder correctly detected.  </a:t>
            </a:r>
            <a:endParaRPr lang="en-US" sz="110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025" y="5572244"/>
            <a:ext cx="1501497" cy="1501497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8168997" y="2045613"/>
            <a:ext cx="569987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endParaRPr lang="en-US" sz="110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0558" y="2332911"/>
            <a:ext cx="3576757" cy="3576757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168997" y="6010751"/>
            <a:ext cx="5699879" cy="372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Figure 8:</a:t>
            </a: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Level 3 irregular city map - complex road network with dead ends representing real-world navigation ambiguity.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8168997" y="6464022"/>
            <a:ext cx="569987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769025" y="7275909"/>
            <a:ext cx="13092351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Figure 9 </a:t>
            </a: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: NW quadrant of Level 3 city with sabotaged road - encoder blind spot is harder to detect in complex maps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701278"/>
            <a:ext cx="13067586" cy="19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81407" y="984409"/>
            <a:ext cx="5748695" cy="453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Cross-Domain Validation: Chess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781407" y="1474827"/>
            <a:ext cx="672298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The Same Bias Appears in Chess. This Is Systemic, Not Navigation-Specific.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1407" y="1924288"/>
            <a:ext cx="5685592" cy="571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Same multi-agent protocol on chess. 4 agents each see one board quadrant. Root agent recommends best move. Ground truth: Stockfish engine. Sabotage: one piece removed from NW quadrant.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81407" y="2599849"/>
            <a:ext cx="5685592" cy="1629847"/>
          </a:xfrm>
          <a:prstGeom prst="roundRect">
            <a:avLst>
              <a:gd name="adj" fmla="val 1335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4164" y="2670691"/>
            <a:ext cx="2257782" cy="19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Finding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89603" y="2670691"/>
            <a:ext cx="1233249" cy="19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Chess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0508" y="2670691"/>
            <a:ext cx="1293852" cy="19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Cities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4164" y="2995136"/>
            <a:ext cx="2257782" cy="19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CBS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89603" y="2995136"/>
            <a:ext cx="1233249" cy="19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+6.94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0508" y="2995136"/>
            <a:ext cx="1293852" cy="19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+6.75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4164" y="3319582"/>
            <a:ext cx="2257782" cy="19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Arch A under confident liar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89603" y="3319582"/>
            <a:ext cx="1233249" cy="19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0.000 accuracy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0508" y="3319582"/>
            <a:ext cx="1293852" cy="19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0.083 accuracy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34164" y="3644027"/>
            <a:ext cx="2257782" cy="19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Accuracy drop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89603" y="3644027"/>
            <a:ext cx="1233249" cy="19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100%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0508" y="3644027"/>
            <a:ext cx="1293852" cy="19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57%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4164" y="3968472"/>
            <a:ext cx="2257782" cy="19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Condition ranking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89603" y="3968472"/>
            <a:ext cx="1233249" cy="19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Identical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0508" y="3968472"/>
            <a:ext cx="1293852" cy="19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Identical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81407" y="4334113"/>
            <a:ext cx="5685592" cy="856059"/>
          </a:xfrm>
          <a:prstGeom prst="roundRect">
            <a:avLst>
              <a:gd name="adj" fmla="val 25431"/>
            </a:avLst>
          </a:prstGeom>
          <a:solidFill>
            <a:srgbClr val="FFB3B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425" y="4533186"/>
            <a:ext cx="181332" cy="14501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52776" y="4463058"/>
            <a:ext cx="5069205" cy="571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is not a navigation artifact. It is a systemic property of how VLM-based multi-agent systems propagate confidence through the language communication layer.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828711" y="1924288"/>
            <a:ext cx="7027783" cy="19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6852193" y="6729725"/>
            <a:ext cx="7027783" cy="19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Figure 10:</a:t>
            </a: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Confidence bias replicates across city navigation and chess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781407" y="7421285"/>
            <a:ext cx="13067586" cy="19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Figure 11: </a:t>
            </a: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Chess replication - clean position (</a:t>
            </a:r>
            <a:r>
              <a:rPr lang="en-US" sz="11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left</a:t>
            </a: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) vs sabotaged position with piece removed from NW quadrant (</a:t>
            </a:r>
            <a:r>
              <a:rPr lang="en-US" sz="11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right</a:t>
            </a: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)</a:t>
            </a:r>
            <a:endParaRPr lang="en-US" sz="1100" dirty="0"/>
          </a:p>
        </p:txBody>
      </p:sp>
      <p:pic>
        <p:nvPicPr>
          <p:cNvPr id="34" name="Picture 33" descr="A graph with red bars&#10;&#10;Description automatically generated">
            <a:extLst>
              <a:ext uri="{FF2B5EF4-FFF2-40B4-BE49-F238E27FC236}">
                <a16:creationId xmlns:a16="http://schemas.microsoft.com/office/drawing/2014/main" id="{6CF59276-244B-9921-F6B2-4D75F18B98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085" y="2050252"/>
            <a:ext cx="3815995" cy="2145040"/>
          </a:xfrm>
          <a:prstGeom prst="rect">
            <a:avLst/>
          </a:prstGeom>
        </p:spPr>
      </p:pic>
      <p:pic>
        <p:nvPicPr>
          <p:cNvPr id="38" name="Picture 37" descr="A graph of a number of cities&#10;&#10;Description automatically generated with medium confidence">
            <a:extLst>
              <a:ext uri="{FF2B5EF4-FFF2-40B4-BE49-F238E27FC236}">
                <a16:creationId xmlns:a16="http://schemas.microsoft.com/office/drawing/2014/main" id="{490F7412-92BA-4620-6E6F-54237E67B9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2583" y="1921431"/>
            <a:ext cx="2898709" cy="2087761"/>
          </a:xfrm>
          <a:prstGeom prst="rect">
            <a:avLst/>
          </a:prstGeom>
        </p:spPr>
      </p:pic>
      <p:pic>
        <p:nvPicPr>
          <p:cNvPr id="40" name="Picture 39" descr="A graph with numbers and symbols&#10;&#10;Description automatically generated with medium confidence">
            <a:extLst>
              <a:ext uri="{FF2B5EF4-FFF2-40B4-BE49-F238E27FC236}">
                <a16:creationId xmlns:a16="http://schemas.microsoft.com/office/drawing/2014/main" id="{75532C00-BE9E-9AE6-F854-AD1C499106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4390" y="4452535"/>
            <a:ext cx="5867505" cy="2277190"/>
          </a:xfrm>
          <a:prstGeom prst="rect">
            <a:avLst/>
          </a:prstGeom>
        </p:spPr>
      </p:pic>
      <p:pic>
        <p:nvPicPr>
          <p:cNvPr id="46" name="Picture 45" descr="A chess board with chess pieces&#10;&#10;Description automatically generated">
            <a:extLst>
              <a:ext uri="{FF2B5EF4-FFF2-40B4-BE49-F238E27FC236}">
                <a16:creationId xmlns:a16="http://schemas.microsoft.com/office/drawing/2014/main" id="{5C3A5B27-F5C6-2044-174F-510FDD64B5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5954" y="5372316"/>
            <a:ext cx="1865992" cy="1865992"/>
          </a:xfrm>
          <a:prstGeom prst="rect">
            <a:avLst/>
          </a:prstGeom>
        </p:spPr>
      </p:pic>
      <p:pic>
        <p:nvPicPr>
          <p:cNvPr id="48" name="Picture 47" descr="A chess board with black and white figures&#10;&#10;Description automatically generated">
            <a:extLst>
              <a:ext uri="{FF2B5EF4-FFF2-40B4-BE49-F238E27FC236}">
                <a16:creationId xmlns:a16="http://schemas.microsoft.com/office/drawing/2014/main" id="{5F155C64-1E71-6810-F433-69A95E401A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3019" y="5367014"/>
            <a:ext cx="1885905" cy="1885905"/>
          </a:xfrm>
          <a:prstGeom prst="rect">
            <a:avLst/>
          </a:prstGeom>
        </p:spPr>
      </p:pic>
      <p:sp>
        <p:nvSpPr>
          <p:cNvPr id="49" name="Oval 48">
            <a:extLst>
              <a:ext uri="{FF2B5EF4-FFF2-40B4-BE49-F238E27FC236}">
                <a16:creationId xmlns:a16="http://schemas.microsoft.com/office/drawing/2014/main" id="{2E23A468-9C5F-0890-B3D5-5E03C8AB3410}"/>
              </a:ext>
            </a:extLst>
          </p:cNvPr>
          <p:cNvSpPr/>
          <p:nvPr/>
        </p:nvSpPr>
        <p:spPr>
          <a:xfrm>
            <a:off x="1773044" y="5832088"/>
            <a:ext cx="290011" cy="25647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DE7C432-1308-279E-2A1C-7C3F434E49A9}"/>
              </a:ext>
            </a:extLst>
          </p:cNvPr>
          <p:cNvSpPr/>
          <p:nvPr/>
        </p:nvSpPr>
        <p:spPr>
          <a:xfrm>
            <a:off x="4219982" y="5832088"/>
            <a:ext cx="290011" cy="25647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BFC4D4D-3144-367D-C621-3EBB339B3F81}"/>
              </a:ext>
            </a:extLst>
          </p:cNvPr>
          <p:cNvCxnSpPr>
            <a:stCxn id="49" idx="6"/>
          </p:cNvCxnSpPr>
          <p:nvPr/>
        </p:nvCxnSpPr>
        <p:spPr>
          <a:xfrm>
            <a:off x="2063055" y="5960327"/>
            <a:ext cx="2156927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675561"/>
            <a:ext cx="13141881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44260" y="937617"/>
            <a:ext cx="7394734" cy="431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Complexity Scaling and Metric Robustness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44260" y="1403033"/>
            <a:ext cx="4999673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The More Complex the Map, the Larger the Attack Surface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4260" y="1820942"/>
            <a:ext cx="5189220" cy="667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 complexity increases from </a:t>
            </a:r>
            <a:r>
              <a:rPr lang="en-US" sz="13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L1 </a:t>
            </a:r>
            <a:r>
              <a:rPr lang="en-US" sz="13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 </a:t>
            </a:r>
            <a:r>
              <a:rPr lang="en-US" sz="13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L3,</a:t>
            </a:r>
            <a:r>
              <a:rPr lang="en-US" sz="13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confidence bias amplifies. More ambiguous environments make the root agent more reliant on subagent confidence signals.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4260" y="2563892"/>
            <a:ext cx="5189220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44260" y="2817495"/>
            <a:ext cx="5189220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4260" y="3090029"/>
            <a:ext cx="5189220" cy="797123"/>
          </a:xfrm>
          <a:prstGeom prst="roundRect">
            <a:avLst>
              <a:gd name="adj" fmla="val 26010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72" y="3278981"/>
            <a:ext cx="172760" cy="1381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93244" y="3208734"/>
            <a:ext cx="4602123" cy="5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Threshold robustness: CBS direction never flips across Jaccard thresholds 0.3 to 0.7. The confident liar condition is consistently worst. Findings are not artifacts of the scoring cutoff.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278285" y="1820942"/>
            <a:ext cx="7615357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endParaRPr lang="en-US" sz="10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4498" y="2208609"/>
            <a:ext cx="2661642" cy="2073235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8069" y="4510564"/>
            <a:ext cx="1535787" cy="153578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78285" y="6141006"/>
            <a:ext cx="7615357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Figure 12:</a:t>
            </a: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Findings hold across Jaccard thresholds and map complexity levels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744260" y="6592848"/>
            <a:ext cx="13141881" cy="15240"/>
          </a:xfrm>
          <a:prstGeom prst="roundRect">
            <a:avLst>
              <a:gd name="adj" fmla="val 1360464"/>
            </a:avLst>
          </a:prstGeom>
          <a:solidFill>
            <a:srgbClr val="B3D5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1"/>
          <p:cNvSpPr/>
          <p:nvPr/>
        </p:nvSpPr>
        <p:spPr>
          <a:xfrm>
            <a:off x="2891790" y="6592848"/>
            <a:ext cx="15240" cy="276344"/>
          </a:xfrm>
          <a:prstGeom prst="roundRect">
            <a:avLst>
              <a:gd name="adj" fmla="val 1360464"/>
            </a:avLst>
          </a:prstGeom>
          <a:solidFill>
            <a:srgbClr val="B3D5E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7618" y="6541056"/>
            <a:ext cx="103584" cy="10358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2035612" y="7007543"/>
            <a:ext cx="1727716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L1: Clean Grid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882372" y="7273885"/>
            <a:ext cx="4034195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Simple structure, lower reliance on confidence signals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7307461" y="6592848"/>
            <a:ext cx="15240" cy="276344"/>
          </a:xfrm>
          <a:prstGeom prst="roundRect">
            <a:avLst>
              <a:gd name="adj" fmla="val 1360464"/>
            </a:avLst>
          </a:prstGeom>
          <a:solidFill>
            <a:srgbClr val="B3D5E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3289" y="6541056"/>
            <a:ext cx="103584" cy="10358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451283" y="7007543"/>
            <a:ext cx="1727716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L2: Grid + Diagonals</a:t>
            </a:r>
            <a:endParaRPr lang="en-US" sz="1350" dirty="0"/>
          </a:p>
        </p:txBody>
      </p:sp>
      <p:sp>
        <p:nvSpPr>
          <p:cNvPr id="24" name="Text 16"/>
          <p:cNvSpPr/>
          <p:nvPr/>
        </p:nvSpPr>
        <p:spPr>
          <a:xfrm>
            <a:off x="5298043" y="7273885"/>
            <a:ext cx="4034195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Increased ambiguity, moderate confidence dependence</a:t>
            </a:r>
            <a:endParaRPr lang="en-US" sz="1050" dirty="0"/>
          </a:p>
        </p:txBody>
      </p:sp>
      <p:sp>
        <p:nvSpPr>
          <p:cNvPr id="25" name="Shape 17"/>
          <p:cNvSpPr/>
          <p:nvPr/>
        </p:nvSpPr>
        <p:spPr>
          <a:xfrm>
            <a:off x="11723132" y="6592848"/>
            <a:ext cx="15240" cy="276344"/>
          </a:xfrm>
          <a:prstGeom prst="roundRect">
            <a:avLst>
              <a:gd name="adj" fmla="val 1360464"/>
            </a:avLst>
          </a:prstGeom>
          <a:solidFill>
            <a:srgbClr val="B3D5E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78960" y="6541056"/>
            <a:ext cx="103584" cy="10358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0663237" y="7007543"/>
            <a:ext cx="2135148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L3: Irregular + Dead Ends</a:t>
            </a:r>
            <a:endParaRPr lang="en-US" sz="1350" dirty="0"/>
          </a:p>
        </p:txBody>
      </p:sp>
      <p:sp>
        <p:nvSpPr>
          <p:cNvPr id="28" name="Text 19"/>
          <p:cNvSpPr/>
          <p:nvPr/>
        </p:nvSpPr>
        <p:spPr>
          <a:xfrm>
            <a:off x="9713714" y="7273885"/>
            <a:ext cx="4034195" cy="35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Maximum ambiguity, highest attack surface, most analogous to real urban autonomous vehicle deployment</a:t>
            </a:r>
            <a:endParaRPr lang="en-US" sz="1050" dirty="0"/>
          </a:p>
        </p:txBody>
      </p:sp>
      <p:pic>
        <p:nvPicPr>
          <p:cNvPr id="30" name="Picture 29" descr="A graph with colored lines and numbers&#10;&#10;Description automatically generated">
            <a:extLst>
              <a:ext uri="{FF2B5EF4-FFF2-40B4-BE49-F238E27FC236}">
                <a16:creationId xmlns:a16="http://schemas.microsoft.com/office/drawing/2014/main" id="{007285C3-A1C8-D4C2-68A0-AFD82FA6D5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464" y="2201683"/>
            <a:ext cx="4621792" cy="22615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1540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93790" y="1181814"/>
            <a:ext cx="5508427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Implications and Future Work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93790" y="1680805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What We Found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93790" y="2054900"/>
            <a:ext cx="4267676" cy="699135"/>
          </a:xfrm>
          <a:prstGeom prst="roundRect">
            <a:avLst>
              <a:gd name="adj" fmla="val 31633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809" y="2290941"/>
            <a:ext cx="73700" cy="73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8235" y="2209919"/>
            <a:ext cx="3788212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Subagent confidence scores are a systematic attack vector: </a:t>
            </a:r>
            <a:r>
              <a:rPr lang="en-US" sz="115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CBS +6.75, p = 0.0045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181243" y="2054900"/>
            <a:ext cx="4267795" cy="699135"/>
          </a:xfrm>
          <a:prstGeom prst="roundRect">
            <a:avLst>
              <a:gd name="adj" fmla="val 31633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6262" y="2290941"/>
            <a:ext cx="73700" cy="737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05688" y="2209919"/>
            <a:ext cx="378833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Effect replicates identically in chess: </a:t>
            </a:r>
            <a:r>
              <a:rPr lang="en-US" sz="115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CBS +6.94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9568815" y="2054900"/>
            <a:ext cx="4267795" cy="699135"/>
          </a:xfrm>
          <a:prstGeom prst="roundRect">
            <a:avLst>
              <a:gd name="adj" fmla="val 31633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3834" y="2290941"/>
            <a:ext cx="73700" cy="737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893260" y="2209919"/>
            <a:ext cx="3788331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Confident Liar drops Arch A accuracy </a:t>
            </a:r>
            <a:r>
              <a:rPr lang="en-US" sz="115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57% in cities</a:t>
            </a:r>
            <a:r>
              <a:rPr lang="en-US" sz="11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and </a:t>
            </a:r>
            <a:r>
              <a:rPr lang="en-US" sz="115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100% in chess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793790" y="2945606"/>
            <a:ext cx="4267676" cy="699135"/>
          </a:xfrm>
          <a:prstGeom prst="roundRect">
            <a:avLst>
              <a:gd name="adj" fmla="val 31633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809" y="3181648"/>
            <a:ext cx="73700" cy="737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18235" y="3100626"/>
            <a:ext cx="3788212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Prompt-based mitigation reduces but does not close the bias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5181243" y="2945606"/>
            <a:ext cx="4267795" cy="699135"/>
          </a:xfrm>
          <a:prstGeom prst="roundRect">
            <a:avLst>
              <a:gd name="adj" fmla="val 31633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6262" y="3181648"/>
            <a:ext cx="73700" cy="737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505688" y="3100626"/>
            <a:ext cx="3788331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Naive visual augmentation creates a new multimodal fusion failure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9568815" y="2945606"/>
            <a:ext cx="4267795" cy="699135"/>
          </a:xfrm>
          <a:prstGeom prst="roundRect">
            <a:avLst>
              <a:gd name="adj" fmla="val 31633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3834" y="3181648"/>
            <a:ext cx="73700" cy="737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9893260" y="3100626"/>
            <a:ext cx="378833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Complexity amplifies the attack surface</a:t>
            </a:r>
            <a:endParaRPr lang="en-US" sz="1150" dirty="0"/>
          </a:p>
        </p:txBody>
      </p:sp>
      <p:sp>
        <p:nvSpPr>
          <p:cNvPr id="23" name="Text 15"/>
          <p:cNvSpPr/>
          <p:nvPr/>
        </p:nvSpPr>
        <p:spPr>
          <a:xfrm>
            <a:off x="793790" y="3788450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Future Work</a:t>
            </a:r>
            <a:endParaRPr lang="en-US" sz="1450" dirty="0"/>
          </a:p>
        </p:txBody>
      </p:sp>
      <p:sp>
        <p:nvSpPr>
          <p:cNvPr id="24" name="Text 16"/>
          <p:cNvSpPr/>
          <p:nvPr/>
        </p:nvSpPr>
        <p:spPr>
          <a:xfrm>
            <a:off x="793790" y="4162544"/>
            <a:ext cx="13042821" cy="8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Cross-agent verification protocols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Calibration-aware orchestration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LIVE-style language-instructed attention at the root agent level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Adversarial robustness benchmarks for multi-agent VLM systems</a:t>
            </a:r>
            <a:endParaRPr lang="en-US" sz="1150" dirty="0"/>
          </a:p>
        </p:txBody>
      </p:sp>
      <p:sp>
        <p:nvSpPr>
          <p:cNvPr id="25" name="Shape 17"/>
          <p:cNvSpPr/>
          <p:nvPr/>
        </p:nvSpPr>
        <p:spPr>
          <a:xfrm>
            <a:off x="793790" y="5185648"/>
            <a:ext cx="13042821" cy="10954"/>
          </a:xfrm>
          <a:prstGeom prst="rect">
            <a:avLst/>
          </a:prstGeom>
          <a:solidFill>
            <a:srgbClr val="5B6E8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8"/>
          <p:cNvSpPr/>
          <p:nvPr/>
        </p:nvSpPr>
        <p:spPr>
          <a:xfrm>
            <a:off x="793790" y="5341144"/>
            <a:ext cx="13042821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1540669" y="5911691"/>
            <a:ext cx="2773918" cy="582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550"/>
              </a:lnSpc>
              <a:buNone/>
            </a:pPr>
            <a:r>
              <a:rPr lang="en-US" sz="45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+6.75</a:t>
            </a:r>
            <a:endParaRPr lang="en-US" sz="4550" dirty="0"/>
          </a:p>
        </p:txBody>
      </p:sp>
      <p:sp>
        <p:nvSpPr>
          <p:cNvPr id="28" name="Text 20"/>
          <p:cNvSpPr/>
          <p:nvPr/>
        </p:nvSpPr>
        <p:spPr>
          <a:xfrm>
            <a:off x="2006084" y="6639520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CBS Cities</a:t>
            </a:r>
            <a:endParaRPr lang="en-US" sz="1450" dirty="0"/>
          </a:p>
        </p:txBody>
      </p:sp>
      <p:sp>
        <p:nvSpPr>
          <p:cNvPr id="29" name="Text 21"/>
          <p:cNvSpPr/>
          <p:nvPr/>
        </p:nvSpPr>
        <p:spPr>
          <a:xfrm>
            <a:off x="793790" y="6927294"/>
            <a:ext cx="426767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 = 0.0045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5928122" y="5911691"/>
            <a:ext cx="2774037" cy="582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550"/>
              </a:lnSpc>
              <a:buNone/>
            </a:pPr>
            <a:r>
              <a:rPr lang="en-US" sz="45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+6.94</a:t>
            </a:r>
            <a:endParaRPr lang="en-US" sz="4550" dirty="0"/>
          </a:p>
        </p:txBody>
      </p:sp>
      <p:sp>
        <p:nvSpPr>
          <p:cNvPr id="31" name="Text 23"/>
          <p:cNvSpPr/>
          <p:nvPr/>
        </p:nvSpPr>
        <p:spPr>
          <a:xfrm>
            <a:off x="6393656" y="6639520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CBS Chess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10315694" y="5911691"/>
            <a:ext cx="2774037" cy="582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550"/>
              </a:lnSpc>
              <a:buNone/>
            </a:pPr>
            <a:r>
              <a:rPr lang="en-US" sz="45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100%</a:t>
            </a:r>
            <a:endParaRPr lang="en-US" sz="4550" dirty="0"/>
          </a:p>
        </p:txBody>
      </p:sp>
      <p:sp>
        <p:nvSpPr>
          <p:cNvPr id="33" name="Text 25"/>
          <p:cNvSpPr/>
          <p:nvPr/>
        </p:nvSpPr>
        <p:spPr>
          <a:xfrm>
            <a:off x="10781228" y="6639520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Accuracy Drop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9568815" y="6927294"/>
            <a:ext cx="4267795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Chess, Confident Liar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793790" y="7229594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Code and data: </a:t>
            </a:r>
            <a:r>
              <a:rPr lang="en-US" sz="1150" u="sng" dirty="0">
                <a:solidFill>
                  <a:srgbClr val="5E87DD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github.com/harsha-gizmo/vlm-agent-hallucination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008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4479846" y="339054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THANK YOU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41900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93790" y="4941213"/>
            <a:ext cx="13042821" cy="16907"/>
          </a:xfrm>
          <a:prstGeom prst="rect">
            <a:avLst/>
          </a:prstGeom>
          <a:solidFill>
            <a:srgbClr val="5B6E8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3790" y="526994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1276</Words>
  <Application>Microsoft Macintosh PowerPoint</Application>
  <PresentationFormat>Custom</PresentationFormat>
  <Paragraphs>179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Manrope</vt:lpstr>
      <vt:lpstr>Calibri</vt:lpstr>
      <vt:lpstr>Alexandria Light</vt:lpstr>
      <vt:lpstr>Alexandria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Harsha Rajendra</cp:lastModifiedBy>
  <cp:revision>7</cp:revision>
  <dcterms:created xsi:type="dcterms:W3CDTF">2026-05-01T13:46:47Z</dcterms:created>
  <dcterms:modified xsi:type="dcterms:W3CDTF">2026-05-01T15:42:20Z</dcterms:modified>
</cp:coreProperties>
</file>